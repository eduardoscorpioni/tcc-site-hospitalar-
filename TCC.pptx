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3"/>
  </p:handoutMasterIdLst>
  <p:sldIdLst>
    <p:sldId id="258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19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61" autoAdjust="0"/>
    <p:restoredTop sz="94670"/>
  </p:normalViewPr>
  <p:slideViewPr>
    <p:cSldViewPr showGuides="1">
      <p:cViewPr>
        <p:scale>
          <a:sx n="66" d="100"/>
          <a:sy n="66" d="100"/>
        </p:scale>
        <p:origin x="1384" y="-60"/>
      </p:cViewPr>
      <p:guideLst>
        <p:guide orient="horz" pos="2160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276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F99-D12F-4954-A61D-F49FB68D10A3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5F320-5C10-46D6-873B-718ABBD496FB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</a:fld>
            <a:endParaRPr lang="pt-BR"/>
          </a:p>
        </p:txBody>
      </p:sp>
      <p:pic>
        <p:nvPicPr>
          <p:cNvPr id="11" name="Picture 9" descr="GGFD2166TRA Raw.ti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" t="2151" r="9181" b="11114"/>
          <a:stretch>
            <a:fillRect/>
          </a:stretch>
        </p:blipFill>
        <p:spPr>
          <a:xfrm>
            <a:off x="-288893" y="0"/>
            <a:ext cx="9432893" cy="6137239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5"/>
          <a:stretch>
            <a:fillRect/>
          </a:stretch>
        </p:blipFill>
        <p:spPr>
          <a:xfrm>
            <a:off x="-288894" y="5805264"/>
            <a:ext cx="9432893" cy="1052736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801586"/>
            <a:ext cx="6372200" cy="105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46" y="2857500"/>
            <a:ext cx="8229600" cy="1143000"/>
          </a:xfrm>
        </p:spPr>
        <p:txBody>
          <a:bodyPr/>
          <a:lstStyle/>
          <a:p>
            <a:r>
              <a:rPr lang="pt-BR" dirty="0"/>
              <a:t>Clique para editar o título mestre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2593" b="23816"/>
          <a:stretch>
            <a:fillRect/>
          </a:stretch>
        </p:blipFill>
        <p:spPr>
          <a:xfrm>
            <a:off x="8244408" y="6251136"/>
            <a:ext cx="740670" cy="587392"/>
          </a:xfrm>
          <a:prstGeom prst="rect">
            <a:avLst/>
          </a:prstGeom>
        </p:spPr>
      </p:pic>
      <p:cxnSp>
        <p:nvCxnSpPr>
          <p:cNvPr id="8" name="Conector Reto 7"/>
          <p:cNvCxnSpPr>
            <a:stCxn id="7" idx="1"/>
          </p:cNvCxnSpPr>
          <p:nvPr userDrawn="1"/>
        </p:nvCxnSpPr>
        <p:spPr>
          <a:xfrm flipH="1">
            <a:off x="0" y="6544832"/>
            <a:ext cx="8244408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24863" y="2708920"/>
            <a:ext cx="8229600" cy="1143000"/>
          </a:xfrm>
        </p:spPr>
        <p:txBody>
          <a:bodyPr/>
          <a:lstStyle/>
          <a:p>
            <a:r>
              <a:rPr lang="pt-BR" dirty="0"/>
              <a:t>Clique para editar estilo do título mestre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</a:fld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67" y="-27384"/>
            <a:ext cx="9311934" cy="936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0D82F-4EDC-49F1-9B28-C237C8B75C57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A9C17-C46A-4EA9-988B-65082669AAE1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095" y="2780928"/>
            <a:ext cx="3347810" cy="2034259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0" y="105273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P.D.T.C.C – DESENVOLVIMENTO DE SISTEMA</a:t>
            </a:r>
            <a:endParaRPr lang="pt-B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412776"/>
            <a:ext cx="9144000" cy="1857657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MedClick uma simulação de um site para Gerenciar e Agendar Atendimentos Médicos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7" name="Título 1"/>
          <p:cNvSpPr txBox="1"/>
          <p:nvPr/>
        </p:nvSpPr>
        <p:spPr>
          <a:xfrm>
            <a:off x="0" y="3573015"/>
            <a:ext cx="9144000" cy="2376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dirty="0"/>
              <a:t>Eduardo Viccino Scorpioni</a:t>
            </a:r>
            <a:endParaRPr lang="pt-BR" sz="3600" dirty="0"/>
          </a:p>
          <a:p>
            <a:r>
              <a:rPr lang="pt-BR" sz="3600" dirty="0"/>
              <a:t>Igor Marques da Silva </a:t>
            </a:r>
            <a:endParaRPr lang="pt-BR" sz="3600" dirty="0"/>
          </a:p>
          <a:p>
            <a:r>
              <a:rPr lang="pt-BR" sz="3600" dirty="0"/>
              <a:t>Eduardo Zacqui Sampaio</a:t>
            </a:r>
            <a:endParaRPr lang="pt-BR" sz="3600" dirty="0"/>
          </a:p>
          <a:p>
            <a:endParaRPr lang="pt-BR" sz="3600" dirty="0"/>
          </a:p>
          <a:p>
            <a:r>
              <a:rPr lang="pt-BR" sz="3600" dirty="0"/>
              <a:t>Orientador: Prof. Flávio Claudino de Araújo</a:t>
            </a:r>
            <a:endParaRPr lang="pt-BR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46" y="476672"/>
            <a:ext cx="8229600" cy="1143000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INTRODUÇÃO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5" name="Título 1"/>
          <p:cNvSpPr txBox="1"/>
          <p:nvPr/>
        </p:nvSpPr>
        <p:spPr>
          <a:xfrm>
            <a:off x="251520" y="1772816"/>
            <a:ext cx="8568952" cy="3744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n-US" altLang="pt-BR" sz="2665" dirty="0">
                <a:solidFill>
                  <a:schemeClr val="tx1"/>
                </a:solidFill>
              </a:rPr>
              <a:t>Apesar dos avan</a:t>
            </a:r>
            <a:r>
              <a:rPr lang="en-US" altLang="en-US" sz="2665" dirty="0">
                <a:solidFill>
                  <a:schemeClr val="tx1"/>
                </a:solidFill>
              </a:rPr>
              <a:t>ç</a:t>
            </a:r>
            <a:r>
              <a:rPr lang="en-US" altLang="pt-BR" sz="2665" dirty="0">
                <a:solidFill>
                  <a:schemeClr val="tx1"/>
                </a:solidFill>
              </a:rPr>
              <a:t>os tecnol</a:t>
            </a:r>
            <a:r>
              <a:rPr lang="en-US" altLang="en-US" sz="2665" dirty="0">
                <a:solidFill>
                  <a:schemeClr val="tx1"/>
                </a:solidFill>
              </a:rPr>
              <a:t>ó</a:t>
            </a:r>
            <a:r>
              <a:rPr lang="en-US" altLang="pt-BR" sz="2665" dirty="0">
                <a:solidFill>
                  <a:schemeClr val="tx1"/>
                </a:solidFill>
              </a:rPr>
              <a:t>gicos, os hospitais p</a:t>
            </a:r>
            <a:r>
              <a:rPr lang="en-US" altLang="en-US" sz="2665" dirty="0">
                <a:solidFill>
                  <a:schemeClr val="tx1"/>
                </a:solidFill>
              </a:rPr>
              <a:t>ú</a:t>
            </a:r>
            <a:r>
              <a:rPr lang="en-US" altLang="pt-BR" sz="2665" dirty="0">
                <a:solidFill>
                  <a:schemeClr val="tx1"/>
                </a:solidFill>
              </a:rPr>
              <a:t>blicos</a:t>
            </a:r>
            <a:endParaRPr lang="en-US" altLang="pt-BR" sz="2665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altLang="pt-BR" sz="2665" dirty="0">
                <a:solidFill>
                  <a:schemeClr val="tx1"/>
                </a:solidFill>
              </a:rPr>
              <a:t>ainda utilizam m</a:t>
            </a:r>
            <a:r>
              <a:rPr lang="en-US" altLang="en-US" sz="2665" dirty="0">
                <a:solidFill>
                  <a:schemeClr val="tx1"/>
                </a:solidFill>
              </a:rPr>
              <a:t>é</a:t>
            </a:r>
            <a:r>
              <a:rPr lang="en-US" altLang="pt-BR" sz="2665" dirty="0">
                <a:solidFill>
                  <a:schemeClr val="tx1"/>
                </a:solidFill>
              </a:rPr>
              <a:t>todos antigos e ineficazes para o</a:t>
            </a:r>
            <a:endParaRPr lang="en-US" altLang="pt-BR" sz="2665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altLang="pt-BR" sz="2665" dirty="0">
                <a:solidFill>
                  <a:schemeClr val="tx1"/>
                </a:solidFill>
              </a:rPr>
              <a:t>agendamento de consultas, exames e retirada de</a:t>
            </a:r>
            <a:endParaRPr lang="en-US" altLang="pt-BR" sz="2665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altLang="pt-BR" sz="2665" dirty="0">
                <a:solidFill>
                  <a:schemeClr val="tx1"/>
                </a:solidFill>
              </a:rPr>
              <a:t>resultados, como filas presenciais</a:t>
            </a:r>
            <a:r>
              <a:rPr lang="pt-BR" altLang="en-US" sz="2665" dirty="0">
                <a:solidFill>
                  <a:schemeClr val="tx1"/>
                </a:solidFill>
              </a:rPr>
              <a:t>. </a:t>
            </a:r>
            <a:r>
              <a:rPr lang="en-US" altLang="pt-BR" sz="2665" dirty="0">
                <a:solidFill>
                  <a:schemeClr val="tx1"/>
                </a:solidFill>
              </a:rPr>
              <a:t>Isso causa longas esperas, falhas na comunica</a:t>
            </a:r>
            <a:r>
              <a:rPr lang="en-US" altLang="en-US" sz="2665" dirty="0">
                <a:solidFill>
                  <a:schemeClr val="tx1"/>
                </a:solidFill>
              </a:rPr>
              <a:t>ç</a:t>
            </a:r>
            <a:r>
              <a:rPr lang="en-US" altLang="en-US" sz="2665" dirty="0">
                <a:solidFill>
                  <a:schemeClr val="tx1"/>
                </a:solidFill>
              </a:rPr>
              <a:t>ã</a:t>
            </a:r>
            <a:r>
              <a:rPr lang="en-US" altLang="pt-BR" sz="2665" dirty="0">
                <a:solidFill>
                  <a:schemeClr val="tx1"/>
                </a:solidFill>
              </a:rPr>
              <a:t>o e</a:t>
            </a:r>
            <a:endParaRPr lang="en-US" altLang="pt-BR" sz="2665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altLang="pt-BR" sz="2665" dirty="0">
                <a:solidFill>
                  <a:schemeClr val="tx1"/>
                </a:solidFill>
              </a:rPr>
              <a:t>sobrecarga de trabalho para os profissionais da sa</a:t>
            </a:r>
            <a:r>
              <a:rPr lang="en-US" altLang="en-US" sz="2665" dirty="0">
                <a:solidFill>
                  <a:schemeClr val="tx1"/>
                </a:solidFill>
              </a:rPr>
              <a:t>ú</a:t>
            </a:r>
            <a:r>
              <a:rPr lang="en-US" altLang="pt-BR" sz="2665" dirty="0">
                <a:solidFill>
                  <a:schemeClr val="tx1"/>
                </a:solidFill>
              </a:rPr>
              <a:t>de. A</a:t>
            </a:r>
            <a:endParaRPr lang="en-US" altLang="pt-BR" sz="2665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altLang="pt-BR" sz="2665" dirty="0">
                <a:solidFill>
                  <a:schemeClr val="tx1"/>
                </a:solidFill>
              </a:rPr>
              <a:t>popula</a:t>
            </a:r>
            <a:r>
              <a:rPr lang="en-US" altLang="en-US" sz="2665" dirty="0">
                <a:solidFill>
                  <a:schemeClr val="tx1"/>
                </a:solidFill>
              </a:rPr>
              <a:t>ç</a:t>
            </a:r>
            <a:r>
              <a:rPr lang="en-US" altLang="en-US" sz="2665" dirty="0">
                <a:solidFill>
                  <a:schemeClr val="tx1"/>
                </a:solidFill>
              </a:rPr>
              <a:t>ã</a:t>
            </a:r>
            <a:r>
              <a:rPr lang="en-US" altLang="pt-BR" sz="2665" dirty="0">
                <a:solidFill>
                  <a:schemeClr val="tx1"/>
                </a:solidFill>
              </a:rPr>
              <a:t>o, muitas vezes, n</a:t>
            </a:r>
            <a:r>
              <a:rPr lang="en-US" altLang="en-US" sz="2665" dirty="0">
                <a:solidFill>
                  <a:schemeClr val="tx1"/>
                </a:solidFill>
              </a:rPr>
              <a:t>ã</a:t>
            </a:r>
            <a:r>
              <a:rPr lang="en-US" altLang="pt-BR" sz="2665" dirty="0">
                <a:solidFill>
                  <a:schemeClr val="tx1"/>
                </a:solidFill>
              </a:rPr>
              <a:t>o consegue acesso r</a:t>
            </a:r>
            <a:r>
              <a:rPr lang="en-US" altLang="en-US" sz="2665" dirty="0">
                <a:solidFill>
                  <a:schemeClr val="tx1"/>
                </a:solidFill>
              </a:rPr>
              <a:t>á</a:t>
            </a:r>
            <a:r>
              <a:rPr lang="en-US" altLang="pt-BR" sz="2665" dirty="0">
                <a:solidFill>
                  <a:schemeClr val="tx1"/>
                </a:solidFill>
              </a:rPr>
              <a:t>pido ao</a:t>
            </a:r>
            <a:endParaRPr lang="en-US" altLang="pt-BR" sz="2665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altLang="pt-BR" sz="2665" dirty="0">
                <a:solidFill>
                  <a:schemeClr val="tx1"/>
                </a:solidFill>
              </a:rPr>
              <a:t>atendimento, o que compromete a qualidade do servi</a:t>
            </a:r>
            <a:r>
              <a:rPr lang="en-US" altLang="en-US" sz="2665" dirty="0">
                <a:solidFill>
                  <a:schemeClr val="tx1"/>
                </a:solidFill>
              </a:rPr>
              <a:t>ç</a:t>
            </a:r>
            <a:r>
              <a:rPr lang="en-US" altLang="pt-BR" sz="2665" dirty="0">
                <a:solidFill>
                  <a:schemeClr val="tx1"/>
                </a:solidFill>
              </a:rPr>
              <a:t>o.</a:t>
            </a:r>
            <a:endParaRPr lang="en-US" altLang="pt-BR" sz="2665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pt-BR" altLang="en-US" sz="2665" dirty="0">
                <a:solidFill>
                  <a:schemeClr val="tx1"/>
                </a:solidFill>
              </a:rPr>
              <a:t>Portanto, a introdução de melhoria com o site para agilidade e organização ao Atendimento Público.</a:t>
            </a:r>
            <a:endParaRPr lang="pt-BR" altLang="en-US" sz="2665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46" y="476672"/>
            <a:ext cx="8229600" cy="1143000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OBJETIVO GERAL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5" name="Título 1"/>
          <p:cNvSpPr txBox="1"/>
          <p:nvPr/>
        </p:nvSpPr>
        <p:spPr>
          <a:xfrm>
            <a:off x="475615" y="1619885"/>
            <a:ext cx="8229600" cy="42329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pt-BR" sz="2000" dirty="0"/>
              <a:t>Este trabalho prop</a:t>
            </a:r>
            <a:r>
              <a:rPr lang="en-US" altLang="en-US" sz="2000" dirty="0"/>
              <a:t>õ</a:t>
            </a:r>
            <a:r>
              <a:rPr lang="en-US" altLang="pt-BR" sz="2000" dirty="0"/>
              <a:t>e a cria</a:t>
            </a:r>
            <a:r>
              <a:rPr lang="en-US" altLang="en-US" sz="2000" dirty="0"/>
              <a:t>ç</a:t>
            </a:r>
            <a:r>
              <a:rPr lang="en-US" altLang="en-US" sz="2000" dirty="0"/>
              <a:t>ã</a:t>
            </a:r>
            <a:r>
              <a:rPr lang="en-US" altLang="pt-BR" sz="2000" dirty="0"/>
              <a:t>o de um site voltado para o agendamento de consultas, exames e a</a:t>
            </a:r>
            <a:endParaRPr lang="en-US" altLang="pt-BR" sz="2000" dirty="0"/>
          </a:p>
          <a:p>
            <a:pPr algn="just"/>
            <a:r>
              <a:rPr lang="en-US" altLang="pt-BR" sz="2000" dirty="0"/>
              <a:t>retirada de resultados online em hospitais p</a:t>
            </a:r>
            <a:r>
              <a:rPr lang="en-US" altLang="en-US" sz="2000" dirty="0"/>
              <a:t>ú</a:t>
            </a:r>
            <a:r>
              <a:rPr lang="en-US" altLang="pt-BR" sz="2000" dirty="0"/>
              <a:t>blicos</a:t>
            </a:r>
            <a:r>
              <a:rPr lang="pt-BR" altLang="en-US" sz="2000" dirty="0"/>
              <a:t> ou consultórios</a:t>
            </a:r>
            <a:r>
              <a:rPr lang="en-US" altLang="pt-BR" sz="2000" dirty="0"/>
              <a:t> da regi</a:t>
            </a:r>
            <a:r>
              <a:rPr lang="en-US" altLang="en-US" sz="2000" dirty="0"/>
              <a:t>ã</a:t>
            </a:r>
            <a:r>
              <a:rPr lang="en-US" altLang="pt-BR" sz="2000" dirty="0"/>
              <a:t>o. A ideia central </a:t>
            </a:r>
            <a:r>
              <a:rPr lang="en-US" altLang="en-US" sz="2000" dirty="0"/>
              <a:t>é</a:t>
            </a:r>
            <a:r>
              <a:rPr lang="en-US" altLang="pt-BR" sz="2000" dirty="0"/>
              <a:t> proporcionar uma solu</a:t>
            </a:r>
            <a:r>
              <a:rPr lang="en-US" altLang="en-US" sz="2000" dirty="0"/>
              <a:t>ç</a:t>
            </a:r>
            <a:r>
              <a:rPr lang="en-US" altLang="en-US" sz="2000" dirty="0"/>
              <a:t>ã</a:t>
            </a:r>
            <a:r>
              <a:rPr lang="en-US" altLang="pt-BR" sz="2000" dirty="0"/>
              <a:t>o</a:t>
            </a:r>
            <a:endParaRPr lang="en-US" altLang="pt-BR" sz="2000" dirty="0"/>
          </a:p>
          <a:p>
            <a:pPr algn="just"/>
            <a:r>
              <a:rPr lang="en-US" altLang="pt-BR" sz="2000" dirty="0"/>
              <a:t>pr</a:t>
            </a:r>
            <a:r>
              <a:rPr lang="en-US" altLang="en-US" sz="2000" dirty="0"/>
              <a:t>á</a:t>
            </a:r>
            <a:r>
              <a:rPr lang="en-US" altLang="pt-BR" sz="2000" dirty="0"/>
              <a:t>tica e acess</a:t>
            </a:r>
            <a:r>
              <a:rPr lang="en-US" altLang="en-US" sz="2000" dirty="0"/>
              <a:t>í</a:t>
            </a:r>
            <a:r>
              <a:rPr lang="en-US" altLang="pt-BR" sz="2000" dirty="0"/>
              <a:t>vel para a popula</a:t>
            </a:r>
            <a:r>
              <a:rPr lang="en-US" altLang="en-US" sz="2000" dirty="0"/>
              <a:t>ç</a:t>
            </a:r>
            <a:r>
              <a:rPr lang="en-US" altLang="en-US" sz="2000" dirty="0"/>
              <a:t>ã</a:t>
            </a:r>
            <a:r>
              <a:rPr lang="en-US" altLang="pt-BR" sz="2000" dirty="0"/>
              <a:t>o, permitindo que os usu</a:t>
            </a:r>
            <a:r>
              <a:rPr lang="en-US" altLang="en-US" sz="2000" dirty="0"/>
              <a:t>á</a:t>
            </a:r>
            <a:r>
              <a:rPr lang="en-US" altLang="pt-BR" sz="2000" dirty="0"/>
              <a:t>rios possam agendar seus atendimentos de</a:t>
            </a:r>
            <a:endParaRPr lang="en-US" altLang="pt-BR" sz="2000" dirty="0"/>
          </a:p>
          <a:p>
            <a:pPr algn="just"/>
            <a:r>
              <a:rPr lang="en-US" altLang="pt-BR" sz="2000" dirty="0"/>
              <a:t>forma r</a:t>
            </a:r>
            <a:r>
              <a:rPr lang="en-US" altLang="en-US" sz="2000" dirty="0"/>
              <a:t>á</a:t>
            </a:r>
            <a:r>
              <a:rPr lang="en-US" altLang="pt-BR" sz="2000" dirty="0"/>
              <a:t>pida e eficiente, sem a necessidade de se deslocarem at</a:t>
            </a:r>
            <a:r>
              <a:rPr lang="en-US" altLang="en-US" sz="2000" dirty="0"/>
              <a:t>é</a:t>
            </a:r>
            <a:r>
              <a:rPr lang="en-US" altLang="pt-BR" sz="2000" dirty="0"/>
              <a:t> o hospital, al</a:t>
            </a:r>
            <a:r>
              <a:rPr lang="en-US" altLang="en-US" sz="2000" dirty="0"/>
              <a:t>é</a:t>
            </a:r>
            <a:r>
              <a:rPr lang="en-US" altLang="pt-BR" sz="2000" dirty="0"/>
              <a:t>m de possibilitar o</a:t>
            </a:r>
            <a:endParaRPr lang="en-US" altLang="pt-BR" sz="2000" dirty="0"/>
          </a:p>
          <a:p>
            <a:pPr algn="just"/>
            <a:r>
              <a:rPr lang="en-US" altLang="pt-BR" sz="2000" dirty="0"/>
              <a:t>acesso online aos resultados de exames realizados. A proposta busca melhorar a experi</a:t>
            </a:r>
            <a:r>
              <a:rPr lang="en-US" altLang="en-US" sz="2000" dirty="0"/>
              <a:t>ê</a:t>
            </a:r>
            <a:r>
              <a:rPr lang="en-US" altLang="pt-BR" sz="2000" dirty="0"/>
              <a:t>ncia do</a:t>
            </a:r>
            <a:endParaRPr lang="en-US" altLang="pt-BR" sz="2000" dirty="0"/>
          </a:p>
          <a:p>
            <a:pPr algn="just"/>
            <a:r>
              <a:rPr lang="en-US" altLang="pt-BR" sz="2000" dirty="0"/>
              <a:t>paciente, otimizar os processos internos dos hospitais e garantir mais transpar</a:t>
            </a:r>
            <a:r>
              <a:rPr lang="en-US" altLang="en-US" sz="2000" dirty="0"/>
              <a:t>ê</a:t>
            </a:r>
            <a:r>
              <a:rPr lang="en-US" altLang="pt-BR" sz="2000" dirty="0"/>
              <a:t>ncia e acessibilidade à</a:t>
            </a:r>
            <a:endParaRPr lang="en-US" altLang="pt-BR" sz="2000" dirty="0"/>
          </a:p>
          <a:p>
            <a:pPr algn="just"/>
            <a:r>
              <a:rPr lang="en-US" altLang="pt-BR" sz="2000" dirty="0"/>
              <a:t>informa</a:t>
            </a:r>
            <a:r>
              <a:rPr lang="en-US" altLang="en-US" sz="2000" dirty="0"/>
              <a:t>ç</a:t>
            </a:r>
            <a:r>
              <a:rPr lang="en-US" altLang="en-US" sz="2000" dirty="0"/>
              <a:t>ã</a:t>
            </a:r>
            <a:r>
              <a:rPr lang="en-US" altLang="pt-BR" sz="2000" dirty="0"/>
              <a:t>o</a:t>
            </a:r>
            <a:endParaRPr lang="pt-BR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46" y="476672"/>
            <a:ext cx="8229600" cy="1143000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OBJETIVOS ESPECÍFICOS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5" name="Título 1"/>
          <p:cNvSpPr txBox="1"/>
          <p:nvPr/>
        </p:nvSpPr>
        <p:spPr>
          <a:xfrm>
            <a:off x="506985" y="2204863"/>
            <a:ext cx="8229600" cy="3609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dirty="0"/>
              <a:t>•</a:t>
            </a:r>
            <a:r>
              <a:rPr lang="pt-BR" sz="8000" dirty="0"/>
              <a:t>Desenvolver um site que Gerencie Hóspitais e Consultórios e Agendamento de Consultas e Exames</a:t>
            </a:r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r>
              <a:rPr lang="pt-BR" dirty="0"/>
              <a:t>•</a:t>
            </a:r>
            <a:r>
              <a:rPr lang="pt-BR" sz="8000" dirty="0"/>
              <a:t>Disponibilizar acessibilidade tanto para pacientes, médicos para automatizar suas consultas,exames, documentos e cadastros</a:t>
            </a:r>
            <a:endParaRPr lang="pt-B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46" y="476672"/>
            <a:ext cx="8229600" cy="1143000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METODOLOGIA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Título 1"/>
          <p:cNvSpPr txBox="1"/>
          <p:nvPr/>
        </p:nvSpPr>
        <p:spPr>
          <a:xfrm>
            <a:off x="251179" y="1619780"/>
            <a:ext cx="8229600" cy="4041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pt-BR" sz="8000" dirty="0"/>
              <a:t>No desenvolvimento da plataforma foram utilizadas 2 linguagens de programação, sendo elas </a:t>
            </a:r>
            <a:r>
              <a:rPr lang="pt-BR" sz="8000" dirty="0" err="1"/>
              <a:t>Hipertext</a:t>
            </a:r>
            <a:r>
              <a:rPr lang="pt-BR" sz="8000" dirty="0"/>
              <a:t> </a:t>
            </a:r>
            <a:r>
              <a:rPr lang="pt-BR" sz="8000" dirty="0" err="1"/>
              <a:t>PreProcessor</a:t>
            </a:r>
            <a:r>
              <a:rPr lang="pt-BR" sz="8000" dirty="0"/>
              <a:t>(PHP) e </a:t>
            </a:r>
            <a:r>
              <a:rPr lang="pt-BR" sz="8000" dirty="0" err="1"/>
              <a:t>JavaScript</a:t>
            </a:r>
            <a:r>
              <a:rPr lang="pt-BR" sz="8000" dirty="0"/>
              <a:t>, foi utilizado a linguagem de marcação de texto HTML . Já no armazenamento de dados foi utilizado o banco de dados </a:t>
            </a:r>
            <a:r>
              <a:rPr lang="pt-BR" sz="8000" dirty="0" err="1"/>
              <a:t>MySql</a:t>
            </a:r>
            <a:r>
              <a:rPr lang="pt-BR" sz="8000" dirty="0"/>
              <a:t>,Nossas imagens foram coletadas de sites de images para uso gratuito, e nossa logos foram feitas com Canva</a:t>
            </a:r>
            <a:endParaRPr lang="pt-BR" sz="8000" dirty="0"/>
          </a:p>
          <a:p>
            <a:pPr algn="just">
              <a:defRPr/>
            </a:pPr>
            <a:r>
              <a:rPr lang="pt-BR" sz="8000" dirty="0"/>
              <a:t>	Para o desenvolvimento acessebilidade de Libras foi usado a API VLibras do Governo digital</a:t>
            </a:r>
            <a:endParaRPr lang="pt-BR" sz="8000" dirty="0"/>
          </a:p>
          <a:p>
            <a:pPr algn="just">
              <a:defRPr/>
            </a:pPr>
            <a:r>
              <a:rPr lang="pt-BR" sz="8000" dirty="0"/>
              <a:t>	Todos os dados vindos da página web desenvolvida em </a:t>
            </a:r>
            <a:r>
              <a:rPr lang="pt-BR" sz="8000" dirty="0" err="1"/>
              <a:t>JavaScript</a:t>
            </a:r>
            <a:r>
              <a:rPr lang="pt-BR" sz="8000" dirty="0"/>
              <a:t> é repassada para outra página na linguagem PHP e utilizado o MySql para armazenemento de todos as informações</a:t>
            </a:r>
            <a:endParaRPr lang="pt-BR" sz="8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46" y="476672"/>
            <a:ext cx="8229600" cy="1143000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CONSIDERAÇÕES FINAIS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Título 1"/>
          <p:cNvSpPr txBox="1"/>
          <p:nvPr/>
        </p:nvSpPr>
        <p:spPr>
          <a:xfrm>
            <a:off x="475615" y="1619885"/>
            <a:ext cx="8229600" cy="323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Foi realizado uma pesquisa sobre a área da Saúde Pública  aonde todos tive algumas conclusões,  pelos resultados das pesquisas foram achados poucos Sites que abrangem este mesmo tema, ou mesmo sites apenas para area Particular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O projeto passou por diversas modificações e até mesmo a reescrita de vários arquivos, e de suas respectivas diretrizes.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Sendo assim com o sistema desenvolvido conseguimos chegar as expectativas esperadas do Público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46" y="476672"/>
            <a:ext cx="8229600" cy="1143000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REFERÊNCIAS BIBLIOGRÁFICAS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Título 1"/>
          <p:cNvSpPr txBox="1"/>
          <p:nvPr/>
        </p:nvSpPr>
        <p:spPr>
          <a:xfrm>
            <a:off x="475334" y="1196753"/>
            <a:ext cx="8229600" cy="4617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8000" dirty="0"/>
              <a:t> </a:t>
            </a:r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r>
              <a:rPr lang="en-US" altLang="pt-BR" sz="8000" dirty="0"/>
              <a:t>PESQUISAS</a:t>
            </a:r>
            <a:endParaRPr lang="en-US" altLang="pt-BR" sz="8000" dirty="0"/>
          </a:p>
          <a:p>
            <a:pPr algn="just"/>
            <a:r>
              <a:rPr lang="en-US" altLang="pt-BR" sz="8000" dirty="0"/>
              <a:t>BIBLIOGR</a:t>
            </a:r>
            <a:r>
              <a:rPr lang="" altLang="en-US" sz="8000" dirty="0"/>
              <a:t>Á</a:t>
            </a:r>
            <a:r>
              <a:rPr lang="en-US" altLang="pt-BR" sz="8000" dirty="0"/>
              <a:t>FICAS</a:t>
            </a:r>
            <a:endParaRPr lang="en-US" altLang="pt-BR" sz="8000" dirty="0"/>
          </a:p>
          <a:p>
            <a:pPr algn="just"/>
            <a:r>
              <a:rPr lang="en-US" altLang="pt-BR" sz="8000" dirty="0"/>
              <a:t>Refer</a:t>
            </a:r>
            <a:r>
              <a:rPr lang="en-US" altLang="en-US" sz="8000" dirty="0"/>
              <a:t>ê</a:t>
            </a:r>
            <a:r>
              <a:rPr lang="en-US" altLang="pt-BR" sz="8000" dirty="0"/>
              <a:t>ncias</a:t>
            </a:r>
            <a:endParaRPr lang="en-US" altLang="pt-BR" sz="8000" dirty="0"/>
          </a:p>
          <a:p>
            <a:pPr algn="just"/>
            <a:r>
              <a:rPr lang="en-US" altLang="pt-BR" sz="8000" dirty="0"/>
              <a:t>Fontes: https://www.cnnbrasil.com.br/saude/esperade-mais-de-2-horas-atinge-75-dos-hospitais-privadosde-sp/?utm_source</a:t>
            </a:r>
            <a:endParaRPr lang="en-US" altLang="pt-BR" sz="8000" dirty="0"/>
          </a:p>
          <a:p>
            <a:pPr algn="just"/>
            <a:r>
              <a:rPr lang="en-US" altLang="pt-BR" sz="8000" dirty="0"/>
              <a:t>https://portal.barueri.sp.gov.br/secretarias/secretariade-saude/tempo-espera?utm_source</a:t>
            </a:r>
            <a:endParaRPr lang="en-US" altLang="pt-BR" sz="8000" dirty="0"/>
          </a:p>
          <a:p>
            <a:pPr algn="just"/>
            <a:r>
              <a:rPr lang="en-US" altLang="pt-BR" sz="8000" dirty="0"/>
              <a:t>https://santajoana.com.br/pronto-atendimento/?</a:t>
            </a:r>
            <a:endParaRPr lang="en-US" altLang="pt-BR" sz="8000" dirty="0"/>
          </a:p>
          <a:p>
            <a:pPr algn="just"/>
            <a:r>
              <a:rPr lang="en-US" altLang="pt-BR" sz="8000" dirty="0"/>
              <a:t>utm_source</a:t>
            </a:r>
            <a:endParaRPr lang="en-US" altLang="pt-BR" sz="8000" dirty="0"/>
          </a:p>
          <a:p>
            <a:pPr algn="just"/>
            <a:r>
              <a:rPr lang="en-US" altLang="pt-BR" sz="8000" dirty="0"/>
              <a:t>PESQUISA EM</a:t>
            </a:r>
            <a:endParaRPr lang="en-US" altLang="pt-BR" sz="8000" dirty="0"/>
          </a:p>
          <a:p>
            <a:pPr algn="just"/>
            <a:r>
              <a:rPr lang="en-US" altLang="pt-BR" sz="8000" dirty="0"/>
              <a:t>SITES</a:t>
            </a:r>
            <a:r>
              <a:rPr lang="pt-BR" altLang="en-US" sz="8000" dirty="0"/>
              <a:t>:</a:t>
            </a:r>
            <a:endParaRPr lang="en-US" altLang="pt-BR" sz="8000" dirty="0"/>
          </a:p>
          <a:p>
            <a:pPr algn="just"/>
            <a:r>
              <a:rPr lang="en-US" altLang="pt-BR" sz="8000" dirty="0"/>
              <a:t>https://hospitalhsi.com.br</a:t>
            </a:r>
            <a:endParaRPr lang="en-US" altLang="pt-BR" sz="8000" dirty="0"/>
          </a:p>
          <a:p>
            <a:pPr algn="just"/>
            <a:r>
              <a:rPr lang="en-US" altLang="pt-BR" sz="8000" dirty="0"/>
              <a:t>https://www.gov.br</a:t>
            </a:r>
            <a:endParaRPr lang="en-US" altLang="pt-BR" sz="8000" dirty="0"/>
          </a:p>
          <a:p>
            <a:pPr algn="just"/>
            <a:r>
              <a:rPr lang="en-US" altLang="pt-BR" sz="8000" dirty="0"/>
              <a:t>https://blog.iclinic.com.br</a:t>
            </a:r>
            <a:endParaRPr lang="en-US" altLang="pt-BR" sz="8000" dirty="0"/>
          </a:p>
          <a:p>
            <a:pPr algn="just"/>
            <a:endParaRPr lang="en-US" altLang="pt-BR" sz="8000" dirty="0"/>
          </a:p>
          <a:p>
            <a:pPr algn="just">
              <a:defRPr/>
            </a:pPr>
            <a:endParaRPr lang="pt-BR" altLang="pt-BR" sz="9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29999C87956E84C8D0EB5C300E770A5" ma:contentTypeVersion="2" ma:contentTypeDescription="Crie um novo documento." ma:contentTypeScope="" ma:versionID="993062ef88d27c533e65920bfa1a9790">
  <xsd:schema xmlns:xsd="http://www.w3.org/2001/XMLSchema" xmlns:xs="http://www.w3.org/2001/XMLSchema" xmlns:p="http://schemas.microsoft.com/office/2006/metadata/properties" xmlns:ns2="e56661ff-02e1-4167-94c2-99354f8be55b" targetNamespace="http://schemas.microsoft.com/office/2006/metadata/properties" ma:root="true" ma:fieldsID="207774950fd1bdf70077e7c8f5ee4666" ns2:_="">
    <xsd:import namespace="e56661ff-02e1-4167-94c2-99354f8be5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6661ff-02e1-4167-94c2-99354f8be5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2E7323-44DB-4B90-9CA5-FE94C5715C5D}">
  <ds:schemaRefs/>
</ds:datastoreItem>
</file>

<file path=customXml/itemProps2.xml><?xml version="1.0" encoding="utf-8"?>
<ds:datastoreItem xmlns:ds="http://schemas.openxmlformats.org/officeDocument/2006/customXml" ds:itemID="{0ACB03A8-8377-4C3F-AE79-D81E5C753CCA}">
  <ds:schemaRefs/>
</ds:datastoreItem>
</file>

<file path=customXml/itemProps3.xml><?xml version="1.0" encoding="utf-8"?>
<ds:datastoreItem xmlns:ds="http://schemas.openxmlformats.org/officeDocument/2006/customXml" ds:itemID="{2FA4F019-4D1D-490A-9ECF-D7A3044EB3E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3113</Words>
  <Application>WPS Presentation</Application>
  <PresentationFormat>Apresentação na tela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Tahoma</vt:lpstr>
      <vt:lpstr>Microsoft YaHei</vt:lpstr>
      <vt:lpstr>Arial Unicode MS</vt:lpstr>
      <vt:lpstr>Calibri</vt:lpstr>
      <vt:lpstr>Tema do Office</vt:lpstr>
      <vt:lpstr>PowerPoint 演示文稿</vt:lpstr>
      <vt:lpstr>PowerPoint 演示文稿</vt:lpstr>
      <vt:lpstr>MedClick uma simulação de um site para Gerenciar e Agendar Atendimentos Médicos</vt:lpstr>
      <vt:lpstr>INTRODUÇÃO</vt:lpstr>
      <vt:lpstr>OBJETIVO GERAL</vt:lpstr>
      <vt:lpstr>OBJETIVOS ESPECÍFICOS</vt:lpstr>
      <vt:lpstr>METODOLOGIA</vt:lpstr>
      <vt:lpstr>CONSIDERAÇÕES FINAIS</vt:lpstr>
      <vt:lpstr>REFERÊNCIAS BIBLIOGRÁFICAS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edusc</cp:lastModifiedBy>
  <cp:revision>4</cp:revision>
  <cp:lastPrinted>2019-09-05T19:33:00Z</cp:lastPrinted>
  <dcterms:created xsi:type="dcterms:W3CDTF">2013-10-10T17:31:00Z</dcterms:created>
  <dcterms:modified xsi:type="dcterms:W3CDTF">2025-10-16T18:24:21Z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0x010100729999C87956E84C8D0EB5C300E770A5</vt:lpwstr>
  </property>
  <property fmtid="{D5CDD505-2E9C-101B-9397-08002B2CF9AE}" pid="3" name="ICV">
    <vt:lpwstr>D143BEDEB5F841CB928052DF9E6F9A26_12</vt:lpwstr>
  </property>
  <property fmtid="{D5CDD505-2E9C-101B-9397-08002B2CF9AE}" pid="4" name="KSOProductBuildVer">
    <vt:lpwstr>1046-12.2.0.22549</vt:lpwstr>
  </property>
</Properties>
</file>